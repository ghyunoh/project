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44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e2ea08c75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e2ea08c75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e2ea08c75c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</a:rPr>
              <a:t>https://honeytip.tistory.com/963</a:t>
            </a:r>
            <a:endParaRPr/>
          </a:p>
        </p:txBody>
      </p:sp>
      <p:sp>
        <p:nvSpPr>
          <p:cNvPr id="99" name="Google Shape;99;ge2ea08c75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e2ea08c75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e2ea08c75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e2ea08c75c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e2ea08c75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e2ea08c75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e2ea08c75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e2ea08c75c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e2ea08c75c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e2ea08c75c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e2ea08c75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e2ea08c75c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e2ea08c75c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e2ea08c75c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e2ea08c75c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e2ea08c75c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e2ea08c75c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e2ea08c75c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e2ea08c75c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 descr="https://images.unsplash.com/photo-1451847251646-8a6c0dd1510c?ixlib=rb-0.3.5&amp;ixid=eyJhcHBfaWQiOjEyMDd9&amp;s=b087e70d55ab588d32bf982c2f281e2f&amp;dpr=1&amp;auto=format&amp;fit=crop&amp;w=1000&amp;q=80&amp;cs=tinysrgb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00" y="0"/>
            <a:ext cx="12193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" descr="A wind farm on snowy hills in Greece"/>
          <p:cNvPicPr preferRelativeResize="0"/>
          <p:nvPr/>
        </p:nvPicPr>
        <p:blipFill rotWithShape="1">
          <a:blip r:embed="rId2">
            <a:alphaModFix/>
          </a:blip>
          <a:srcRect l="29506" r="11205"/>
          <a:stretch/>
        </p:blipFill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 extrusionOk="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" name="Google Shape;11;p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" name="Google Shape;12;p3"/>
          <p:cNvPicPr preferRelativeResize="0"/>
          <p:nvPr/>
        </p:nvPicPr>
        <p:blipFill rotWithShape="1">
          <a:blip r:embed="rId4">
            <a:alphaModFix/>
          </a:blip>
          <a:srcRect b="33395"/>
          <a:stretch/>
        </p:blipFill>
        <p:spPr>
          <a:xfrm>
            <a:off x="2993559" y="4697760"/>
            <a:ext cx="4566300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/>
          <p:nvPr/>
        </p:nvSpPr>
        <p:spPr>
          <a:xfrm rot="-1800000">
            <a:off x="9823340" y="2720749"/>
            <a:ext cx="2160000" cy="360000"/>
          </a:xfrm>
          <a:prstGeom prst="roundRect">
            <a:avLst>
              <a:gd name="adj" fmla="val 50000"/>
            </a:avLst>
          </a:prstGeom>
          <a:solidFill>
            <a:srgbClr val="F0F1F3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14;p3"/>
          <p:cNvSpPr txBox="1"/>
          <p:nvPr/>
        </p:nvSpPr>
        <p:spPr>
          <a:xfrm rot="-5400000">
            <a:off x="4580521" y="5342521"/>
            <a:ext cx="278473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2018. BiBook All rights reserved.</a:t>
            </a:r>
            <a:endParaRPr/>
          </a:p>
        </p:txBody>
      </p:sp>
      <p:pic>
        <p:nvPicPr>
          <p:cNvPr id="15" name="Google Shape;15;p3"/>
          <p:cNvPicPr preferRelativeResize="0"/>
          <p:nvPr/>
        </p:nvPicPr>
        <p:blipFill rotWithShape="1">
          <a:blip r:embed="rId5">
            <a:alphaModFix/>
          </a:blip>
          <a:srcRect r="47504"/>
          <a:stretch/>
        </p:blipFill>
        <p:spPr>
          <a:xfrm>
            <a:off x="11183888" y="4327259"/>
            <a:ext cx="1008112" cy="1261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 rotWithShape="1">
          <a:blip r:embed="rId6">
            <a:alphaModFix/>
          </a:blip>
          <a:srcRect t="53551" r="20906"/>
          <a:stretch/>
        </p:blipFill>
        <p:spPr>
          <a:xfrm>
            <a:off x="8951640" y="0"/>
            <a:ext cx="3240360" cy="10081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 rot="-1800000">
            <a:off x="4813099" y="1076434"/>
            <a:ext cx="2880000" cy="720000"/>
          </a:xfrm>
          <a:prstGeom prst="roundRect">
            <a:avLst>
              <a:gd name="adj" fmla="val 50000"/>
            </a:avLst>
          </a:prstGeom>
          <a:solidFill>
            <a:srgbClr val="F0F1F3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>
  <p:cSld name="1_제목 및 내용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>
  <p:cSld name="구역 머리글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 descr="A single dandelion up close with the blue sky in the backdrop."/>
          <p:cNvPicPr preferRelativeResize="0"/>
          <p:nvPr/>
        </p:nvPicPr>
        <p:blipFill rotWithShape="1">
          <a:blip r:embed="rId2">
            <a:alphaModFix/>
          </a:blip>
          <a:srcRect l="5552" t="10156" r="3546" b="13185"/>
          <a:stretch/>
        </p:blipFill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1" name="Google Shape;21;p5"/>
          <p:cNvSpPr/>
          <p:nvPr/>
        </p:nvSpPr>
        <p:spPr>
          <a:xfrm>
            <a:off x="4517621" y="1850621"/>
            <a:ext cx="3156758" cy="3156758"/>
          </a:xfrm>
          <a:prstGeom prst="ellipse">
            <a:avLst/>
          </a:prstGeom>
          <a:solidFill>
            <a:srgbClr val="582400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5"/>
          <p:cNvSpPr/>
          <p:nvPr/>
        </p:nvSpPr>
        <p:spPr>
          <a:xfrm>
            <a:off x="4260000" y="1593000"/>
            <a:ext cx="3672000" cy="3672000"/>
          </a:xfrm>
          <a:prstGeom prst="arc">
            <a:avLst>
              <a:gd name="adj1" fmla="val 16200000"/>
              <a:gd name="adj2" fmla="val 0"/>
            </a:avLst>
          </a:prstGeom>
          <a:noFill/>
          <a:ln w="190500" cap="rnd" cmpd="sng">
            <a:solidFill>
              <a:srgbClr val="F0F1F3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4260000" y="1593000"/>
            <a:ext cx="3672000" cy="3672000"/>
          </a:xfrm>
          <a:prstGeom prst="arc">
            <a:avLst>
              <a:gd name="adj1" fmla="val 2621799"/>
              <a:gd name="adj2" fmla="val 6608287"/>
            </a:avLst>
          </a:prstGeom>
          <a:noFill/>
          <a:ln w="190500" cap="rnd" cmpd="sng">
            <a:solidFill>
              <a:srgbClr val="D78E02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4260000" y="1593000"/>
            <a:ext cx="3672000" cy="3672000"/>
          </a:xfrm>
          <a:prstGeom prst="arc">
            <a:avLst>
              <a:gd name="adj1" fmla="val 10894452"/>
              <a:gd name="adj2" fmla="val 13136048"/>
            </a:avLst>
          </a:prstGeom>
          <a:noFill/>
          <a:ln w="190500" cap="rnd" cmpd="sng">
            <a:solidFill>
              <a:srgbClr val="F0F1F3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3918000" y="1251000"/>
            <a:ext cx="4356000" cy="4356000"/>
          </a:xfrm>
          <a:prstGeom prst="arc">
            <a:avLst>
              <a:gd name="adj1" fmla="val 12267783"/>
              <a:gd name="adj2" fmla="val 17209492"/>
            </a:avLst>
          </a:prstGeom>
          <a:noFill/>
          <a:ln w="190500" cap="rnd" cmpd="sng">
            <a:solidFill>
              <a:srgbClr val="F0F1F3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3918000" y="1251000"/>
            <a:ext cx="4356000" cy="4356000"/>
          </a:xfrm>
          <a:prstGeom prst="arc">
            <a:avLst>
              <a:gd name="adj1" fmla="val 5490934"/>
              <a:gd name="adj2" fmla="val 9590926"/>
            </a:avLst>
          </a:prstGeom>
          <a:noFill/>
          <a:ln w="190500" cap="rnd" cmpd="sng">
            <a:solidFill>
              <a:srgbClr val="F0F1F3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3918000" y="1251000"/>
            <a:ext cx="4356000" cy="4356000"/>
          </a:xfrm>
          <a:prstGeom prst="arc">
            <a:avLst>
              <a:gd name="adj1" fmla="val 1274178"/>
              <a:gd name="adj2" fmla="val 2804849"/>
            </a:avLst>
          </a:prstGeom>
          <a:noFill/>
          <a:ln w="190500" cap="rnd" cmpd="sng">
            <a:solidFill>
              <a:srgbClr val="F0F1F3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3576000" y="909000"/>
            <a:ext cx="5040000" cy="5040000"/>
          </a:xfrm>
          <a:prstGeom prst="arc">
            <a:avLst>
              <a:gd name="adj1" fmla="val 16286841"/>
              <a:gd name="adj2" fmla="val 4271279"/>
            </a:avLst>
          </a:prstGeom>
          <a:noFill/>
          <a:ln w="190500" cap="rnd" cmpd="sng">
            <a:solidFill>
              <a:srgbClr val="92D5F2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3576000" y="909000"/>
            <a:ext cx="5040000" cy="5040000"/>
          </a:xfrm>
          <a:prstGeom prst="arc">
            <a:avLst>
              <a:gd name="adj1" fmla="val 7634750"/>
              <a:gd name="adj2" fmla="val 12818034"/>
            </a:avLst>
          </a:prstGeom>
          <a:noFill/>
          <a:ln w="190500" cap="rnd" cmpd="sng">
            <a:solidFill>
              <a:srgbClr val="2F3F01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4703632" y="6567155"/>
            <a:ext cx="278473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>
                <a:solidFill>
                  <a:srgbClr val="608B4D"/>
                </a:solidFill>
                <a:latin typeface="Arial"/>
                <a:ea typeface="Arial"/>
                <a:cs typeface="Arial"/>
                <a:sym typeface="Arial"/>
              </a:rPr>
              <a:t>Copyright 2018. BiBook All rights reserved.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>
  <p:cSld name="콘텐츠 2개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6" descr="https://images.unsplash.com/photo-1446861165121-b6ce118a04e1?ixlib=rb-0.3.5&amp;ixid=eyJhcHBfaWQiOjEyMDd9&amp;s=2ac7a77b8ae59ba29aa2eb22c93cdb99&amp;dpr=1&amp;auto=format&amp;fit=crop&amp;w=1000&amp;q=80&amp;cs=tinysrgb"/>
          <p:cNvPicPr preferRelativeResize="0"/>
          <p:nvPr/>
        </p:nvPicPr>
        <p:blipFill rotWithShape="1">
          <a:blip r:embed="rId2">
            <a:alphaModFix/>
          </a:blip>
          <a:srcRect t="5223"/>
          <a:stretch/>
        </p:blipFill>
        <p:spPr>
          <a:xfrm>
            <a:off x="6836228" y="0"/>
            <a:ext cx="5355771" cy="6858000"/>
          </a:xfrm>
          <a:custGeom>
            <a:avLst/>
            <a:gdLst/>
            <a:ahLst/>
            <a:cxnLst/>
            <a:rect l="l" t="t" r="r" b="b"/>
            <a:pathLst>
              <a:path w="5355771" h="6858000" extrusionOk="0">
                <a:moveTo>
                  <a:pt x="0" y="0"/>
                </a:moveTo>
                <a:lnTo>
                  <a:pt x="5355771" y="0"/>
                </a:lnTo>
                <a:lnTo>
                  <a:pt x="535577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3" name="Google Shape;33;p6"/>
          <p:cNvSpPr txBox="1"/>
          <p:nvPr/>
        </p:nvSpPr>
        <p:spPr>
          <a:xfrm rot="5400000">
            <a:off x="5566970" y="5342521"/>
            <a:ext cx="278473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2018. BiBook All rights reserved.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>
  <p:cSld name="비교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7" descr="https://images.unsplash.com/photo-1516214104703-d870798883c5?ixlib=rb-0.3.5&amp;ixid=eyJhcHBfaWQiOjEyMDd9&amp;s=4cd3d445041467403058c0d8356b1f9b&amp;w=1000&amp;q=80"/>
          <p:cNvPicPr preferRelativeResize="0"/>
          <p:nvPr/>
        </p:nvPicPr>
        <p:blipFill rotWithShape="1">
          <a:blip r:embed="rId2">
            <a:alphaModFix/>
          </a:blip>
          <a:srcRect l="5" t="7838" r="5" b="7838"/>
          <a:stretch/>
        </p:blipFill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6" name="Google Shape;36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37;p7"/>
          <p:cNvSpPr txBox="1"/>
          <p:nvPr/>
        </p:nvSpPr>
        <p:spPr>
          <a:xfrm>
            <a:off x="4703632" y="6567155"/>
            <a:ext cx="278473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2018. BiBook All rights reserved.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>
  <p:cSld name="제목만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8" descr="https://images.unsplash.com/photo-1492539161849-b2b18e79c85f?ixlib=rb-0.3.5&amp;ixid=eyJhcHBfaWQiOjEyMDd9&amp;s=fde5a32e450c9d7375047edac49dbdec&amp;dpr=1&amp;auto=format&amp;fit=crop&amp;w=1000&amp;q=80&amp;cs=tinysrgb"/>
          <p:cNvPicPr preferRelativeResize="0"/>
          <p:nvPr/>
        </p:nvPicPr>
        <p:blipFill rotWithShape="1">
          <a:blip r:embed="rId2">
            <a:alphaModFix/>
          </a:blip>
          <a:srcRect l="9099" t="18796" b="4544"/>
          <a:stretch/>
        </p:blipFill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0" name="Google Shape;40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8"/>
          <p:cNvSpPr txBox="1"/>
          <p:nvPr/>
        </p:nvSpPr>
        <p:spPr>
          <a:xfrm>
            <a:off x="6041372" y="980728"/>
            <a:ext cx="226536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 i="0" u="none" strike="noStrike" cap="none">
                <a:solidFill>
                  <a:srgbClr val="F28B51"/>
                </a:solidFill>
                <a:latin typeface="Arial"/>
                <a:ea typeface="Arial"/>
                <a:cs typeface="Arial"/>
                <a:sym typeface="Arial"/>
              </a:rPr>
              <a:t>Copyright 2018. BiBook All rights reserved.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9" descr="https://images.unsplash.com/photo-1521913728990-c534455c5454?ixlib=rb-0.3.5&amp;ixid=eyJhcHBfaWQiOjEyMDd9&amp;s=091b7545b26e9e18696658419b3b6405&amp;w=1000&amp;q=80"/>
          <p:cNvPicPr preferRelativeResize="0"/>
          <p:nvPr/>
        </p:nvPicPr>
        <p:blipFill rotWithShape="1">
          <a:blip r:embed="rId2">
            <a:alphaModFix/>
          </a:blip>
          <a:srcRect t="8598" b="9512"/>
          <a:stretch/>
        </p:blipFill>
        <p:spPr>
          <a:xfrm>
            <a:off x="6105736" y="3429000"/>
            <a:ext cx="6086264" cy="3429000"/>
          </a:xfrm>
          <a:custGeom>
            <a:avLst/>
            <a:gdLst/>
            <a:ahLst/>
            <a:cxnLst/>
            <a:rect l="l" t="t" r="r" b="b"/>
            <a:pathLst>
              <a:path w="6086264" h="3429000" extrusionOk="0">
                <a:moveTo>
                  <a:pt x="0" y="0"/>
                </a:moveTo>
                <a:lnTo>
                  <a:pt x="6086264" y="0"/>
                </a:lnTo>
                <a:lnTo>
                  <a:pt x="6086264" y="3429000"/>
                </a:lnTo>
                <a:lnTo>
                  <a:pt x="0" y="3429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44" name="Google Shape;44;p9" descr="https://images.unsplash.com/photo-1517319725296-466c84bd7d54?ixlib=rb-0.3.5&amp;ixid=eyJhcHBfaWQiOjEyMDd9&amp;s=80c420b6b1fc6b414c557c7825fa1d6d&amp;w=1000&amp;q=80"/>
          <p:cNvPicPr preferRelativeResize="0"/>
          <p:nvPr/>
        </p:nvPicPr>
        <p:blipFill rotWithShape="1">
          <a:blip r:embed="rId3">
            <a:alphaModFix/>
          </a:blip>
          <a:srcRect r="112" b="15895"/>
          <a:stretch/>
        </p:blipFill>
        <p:spPr>
          <a:xfrm>
            <a:off x="0" y="0"/>
            <a:ext cx="6105736" cy="3429000"/>
          </a:xfrm>
          <a:custGeom>
            <a:avLst/>
            <a:gdLst/>
            <a:ahLst/>
            <a:cxnLst/>
            <a:rect l="l" t="t" r="r" b="b"/>
            <a:pathLst>
              <a:path w="6105736" h="3429000" extrusionOk="0">
                <a:moveTo>
                  <a:pt x="0" y="0"/>
                </a:moveTo>
                <a:lnTo>
                  <a:pt x="6105736" y="0"/>
                </a:lnTo>
                <a:lnTo>
                  <a:pt x="6105736" y="3429000"/>
                </a:lnTo>
                <a:lnTo>
                  <a:pt x="0" y="3429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5" name="Google Shape;45;p9"/>
          <p:cNvSpPr txBox="1"/>
          <p:nvPr/>
        </p:nvSpPr>
        <p:spPr>
          <a:xfrm rot="-5400000">
            <a:off x="10629193" y="5020390"/>
            <a:ext cx="278473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2018. BiBook All rights reserved.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>
  <p:cSld name="캡션 있는 콘텐츠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0" descr="https://images.unsplash.com/photo-1517319725296-466c84bd7d54?ixlib=rb-0.3.5&amp;ixid=eyJhcHBfaWQiOjEyMDd9&amp;s=80c420b6b1fc6b414c557c7825fa1d6d&amp;w=1000&amp;q=80"/>
          <p:cNvPicPr preferRelativeResize="0"/>
          <p:nvPr/>
        </p:nvPicPr>
        <p:blipFill rotWithShape="1">
          <a:blip r:embed="rId2">
            <a:alphaModFix/>
          </a:blip>
          <a:srcRect l="5" r="5" b="15674"/>
          <a:stretch/>
        </p:blipFill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8" name="Google Shape;48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49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" name="Google Shape;50;p10"/>
          <p:cNvSpPr txBox="1"/>
          <p:nvPr/>
        </p:nvSpPr>
        <p:spPr>
          <a:xfrm>
            <a:off x="9407263" y="44624"/>
            <a:ext cx="278473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2018. BiBook All rights reserved.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1" descr="https://images.unsplash.com/photo-1521913728990-c534455c5454?ixlib=rb-0.3.5&amp;ixid=eyJhcHBfaWQiOjEyMDd9&amp;s=091b7545b26e9e18696658419b3b6405&amp;w=1000&amp;q=80"/>
          <p:cNvPicPr preferRelativeResize="0"/>
          <p:nvPr/>
        </p:nvPicPr>
        <p:blipFill rotWithShape="1">
          <a:blip r:embed="rId2">
            <a:alphaModFix/>
          </a:blip>
          <a:srcRect l="5" t="9125" r="5" b="9124"/>
          <a:stretch/>
        </p:blipFill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3" name="Google Shape;53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54;p11"/>
          <p:cNvSpPr txBox="1"/>
          <p:nvPr/>
        </p:nvSpPr>
        <p:spPr>
          <a:xfrm rot="-5400000">
            <a:off x="10629193" y="2590976"/>
            <a:ext cx="278473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2018. BiBook All rights reserved.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/>
        </p:nvSpPr>
        <p:spPr>
          <a:xfrm>
            <a:off x="3829998" y="2659559"/>
            <a:ext cx="453201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4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Arial"/>
                <a:sym typeface="Arial"/>
              </a:rPr>
              <a:t>날씨 예측 모델링</a:t>
            </a:r>
            <a:endParaRPr sz="4400" b="1" i="0" u="none" strike="noStrike" cap="none" dirty="0">
              <a:solidFill>
                <a:schemeClr val="lt1"/>
              </a:solidFill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60" name="Google Shape;6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5822" y="2250336"/>
            <a:ext cx="7980356" cy="1859441"/>
          </a:xfrm>
          <a:custGeom>
            <a:avLst/>
            <a:gdLst/>
            <a:ahLst/>
            <a:cxnLst/>
            <a:rect l="l" t="t" r="r" b="b"/>
            <a:pathLst>
              <a:path w="7980356" h="1859441" extrusionOk="0">
                <a:moveTo>
                  <a:pt x="7590578" y="1505784"/>
                </a:moveTo>
                <a:lnTo>
                  <a:pt x="7980356" y="1505784"/>
                </a:lnTo>
                <a:lnTo>
                  <a:pt x="7980356" y="1859441"/>
                </a:lnTo>
                <a:lnTo>
                  <a:pt x="7590578" y="1859441"/>
                </a:lnTo>
                <a:close/>
                <a:moveTo>
                  <a:pt x="0" y="1505784"/>
                </a:moveTo>
                <a:lnTo>
                  <a:pt x="389779" y="1505784"/>
                </a:lnTo>
                <a:lnTo>
                  <a:pt x="389779" y="1859441"/>
                </a:lnTo>
                <a:lnTo>
                  <a:pt x="0" y="1859441"/>
                </a:lnTo>
                <a:close/>
                <a:moveTo>
                  <a:pt x="7590578" y="0"/>
                </a:moveTo>
                <a:lnTo>
                  <a:pt x="7980356" y="0"/>
                </a:lnTo>
                <a:lnTo>
                  <a:pt x="7980356" y="353656"/>
                </a:lnTo>
                <a:lnTo>
                  <a:pt x="7590578" y="353656"/>
                </a:lnTo>
                <a:close/>
                <a:moveTo>
                  <a:pt x="0" y="0"/>
                </a:moveTo>
                <a:lnTo>
                  <a:pt x="389779" y="0"/>
                </a:lnTo>
                <a:lnTo>
                  <a:pt x="389779" y="353656"/>
                </a:lnTo>
                <a:lnTo>
                  <a:pt x="0" y="353656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1" name="Google Shape;61;p12"/>
          <p:cNvSpPr txBox="1"/>
          <p:nvPr/>
        </p:nvSpPr>
        <p:spPr>
          <a:xfrm>
            <a:off x="4007708" y="3369258"/>
            <a:ext cx="395492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chemeClr val="lt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 기상청 </a:t>
            </a:r>
            <a:r>
              <a:rPr lang="ko-KR" sz="2000" b="1" dirty="0" err="1">
                <a:solidFill>
                  <a:schemeClr val="lt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Open</a:t>
            </a:r>
            <a:r>
              <a:rPr lang="ko-KR" sz="2000" b="1" dirty="0">
                <a:solidFill>
                  <a:schemeClr val="lt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 API </a:t>
            </a:r>
            <a:endParaRPr sz="2000" b="1" i="0" u="none" strike="noStrike" cap="none" dirty="0">
              <a:solidFill>
                <a:schemeClr val="lt1"/>
              </a:solidFill>
              <a:latin typeface="굴림" panose="020B0600000101010101" pitchFamily="34" charset="-127"/>
              <a:ea typeface="굴림" panose="020B0600000101010101" pitchFamily="34" charset="-127"/>
              <a:sym typeface="Arial"/>
            </a:endParaRPr>
          </a:p>
        </p:txBody>
      </p:sp>
      <p:sp>
        <p:nvSpPr>
          <p:cNvPr id="5" name="Google Shape;61;p12">
            <a:extLst>
              <a:ext uri="{FF2B5EF4-FFF2-40B4-BE49-F238E27FC236}">
                <a16:creationId xmlns:a16="http://schemas.microsoft.com/office/drawing/2014/main" id="{E88801B9-DE01-4261-8E20-31BBB5D3B986}"/>
              </a:ext>
            </a:extLst>
          </p:cNvPr>
          <p:cNvSpPr txBox="1"/>
          <p:nvPr/>
        </p:nvSpPr>
        <p:spPr>
          <a:xfrm>
            <a:off x="4007708" y="3826400"/>
            <a:ext cx="395492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굴림" panose="020B0600000101010101" pitchFamily="34" charset="-127"/>
                <a:ea typeface="굴림" panose="020B0600000101010101" pitchFamily="34" charset="-127"/>
                <a:sym typeface="Arial"/>
              </a:rPr>
              <a:t>A</a:t>
            </a:r>
            <a:r>
              <a:rPr lang="ko-KR" altLang="en-US" sz="2000" b="1" i="0" u="none" strike="noStrike" cap="none" dirty="0">
                <a:solidFill>
                  <a:schemeClr val="lt1"/>
                </a:solidFill>
                <a:latin typeface="굴림" panose="020B0600000101010101" pitchFamily="34" charset="-127"/>
                <a:ea typeface="굴림" panose="020B0600000101010101" pitchFamily="34" charset="-127"/>
                <a:sym typeface="Arial"/>
              </a:rPr>
              <a:t>조 </a:t>
            </a:r>
            <a:r>
              <a:rPr lang="ko-KR" altLang="en-US" sz="2000" b="1" i="0" u="none" strike="noStrike" cap="none" dirty="0" err="1">
                <a:solidFill>
                  <a:schemeClr val="lt1"/>
                </a:solidFill>
                <a:latin typeface="굴림" panose="020B0600000101010101" pitchFamily="34" charset="-127"/>
                <a:ea typeface="굴림" panose="020B0600000101010101" pitchFamily="34" charset="-127"/>
                <a:sym typeface="Arial"/>
              </a:rPr>
              <a:t>김승건</a:t>
            </a:r>
            <a:r>
              <a:rPr lang="ko-KR" altLang="en-US" sz="2000" b="1" i="0" u="none" strike="noStrike" cap="none" dirty="0">
                <a:solidFill>
                  <a:schemeClr val="lt1"/>
                </a:solidFill>
                <a:latin typeface="굴림" panose="020B0600000101010101" pitchFamily="34" charset="-127"/>
                <a:ea typeface="굴림" panose="020B0600000101010101" pitchFamily="34" charset="-127"/>
                <a:sym typeface="Arial"/>
              </a:rPr>
              <a:t> 오지현 </a:t>
            </a:r>
            <a:r>
              <a:rPr lang="ko-KR" altLang="en-US" sz="2000" b="1" i="0" u="none" strike="noStrike" cap="none" dirty="0" err="1">
                <a:solidFill>
                  <a:schemeClr val="lt1"/>
                </a:solidFill>
                <a:latin typeface="굴림" panose="020B0600000101010101" pitchFamily="34" charset="-127"/>
                <a:ea typeface="굴림" panose="020B0600000101010101" pitchFamily="34" charset="-127"/>
                <a:sym typeface="Arial"/>
              </a:rPr>
              <a:t>정제원</a:t>
            </a:r>
            <a:endParaRPr sz="2000" b="1" i="0" u="none" strike="noStrike" cap="none" dirty="0">
              <a:solidFill>
                <a:schemeClr val="lt1"/>
              </a:solidFill>
              <a:latin typeface="굴림" panose="020B0600000101010101" pitchFamily="34" charset="-127"/>
              <a:ea typeface="굴림" panose="020B0600000101010101" pitchFamily="34" charset="-127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3"/>
          <p:cNvGrpSpPr/>
          <p:nvPr/>
        </p:nvGrpSpPr>
        <p:grpSpPr>
          <a:xfrm>
            <a:off x="7104112" y="1268760"/>
            <a:ext cx="3003066" cy="523220"/>
            <a:chOff x="7104112" y="1268760"/>
            <a:chExt cx="3003066" cy="523220"/>
          </a:xfrm>
        </p:grpSpPr>
        <p:sp>
          <p:nvSpPr>
            <p:cNvPr id="67" name="Google Shape;67;p13"/>
            <p:cNvSpPr txBox="1"/>
            <p:nvPr/>
          </p:nvSpPr>
          <p:spPr>
            <a:xfrm>
              <a:off x="7104112" y="1268760"/>
              <a:ext cx="7537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0" i="0" u="none" strike="noStrike" cap="none">
                  <a:solidFill>
                    <a:srgbClr val="3F3F3F"/>
                  </a:solidFill>
                  <a:latin typeface="+mj-ea"/>
                  <a:ea typeface="+mj-ea"/>
                  <a:cs typeface="Arial"/>
                  <a:sym typeface="Arial"/>
                </a:rPr>
                <a:t>01.</a:t>
              </a:r>
              <a:endParaRPr>
                <a:latin typeface="+mj-ea"/>
                <a:ea typeface="+mj-ea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857844" y="1299537"/>
              <a:ext cx="224933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 b="0" i="0" u="none" strike="noStrike" cap="none" dirty="0">
                  <a:solidFill>
                    <a:srgbClr val="3F3F3F"/>
                  </a:solidFill>
                  <a:latin typeface="+mj-ea"/>
                  <a:ea typeface="+mj-ea"/>
                  <a:cs typeface="Arial"/>
                  <a:sym typeface="Arial"/>
                </a:rPr>
                <a:t>주제 선정 이유</a:t>
              </a:r>
              <a:endParaRPr sz="2400" b="0" i="0" u="none" strike="noStrike" cap="none" dirty="0">
                <a:solidFill>
                  <a:srgbClr val="3F3F3F"/>
                </a:solidFill>
                <a:latin typeface="+mj-ea"/>
                <a:ea typeface="+mj-ea"/>
                <a:cs typeface="Arial"/>
                <a:sym typeface="Arial"/>
              </a:endParaRPr>
            </a:p>
          </p:txBody>
        </p:sp>
      </p:grpSp>
      <p:sp>
        <p:nvSpPr>
          <p:cNvPr id="69" name="Google Shape;69;p13"/>
          <p:cNvSpPr txBox="1"/>
          <p:nvPr/>
        </p:nvSpPr>
        <p:spPr>
          <a:xfrm>
            <a:off x="9377469" y="2382947"/>
            <a:ext cx="18473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3F3F3F"/>
              </a:solidFill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2421341" y="2677855"/>
            <a:ext cx="131318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400" b="0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Arial"/>
                <a:sym typeface="Arial"/>
              </a:rPr>
              <a:t>목차</a:t>
            </a:r>
            <a:endParaRPr sz="4400" b="0" i="0" u="none" strike="noStrike" cap="none" dirty="0">
              <a:solidFill>
                <a:schemeClr val="lt1"/>
              </a:solidFill>
              <a:latin typeface="+mj-ea"/>
              <a:ea typeface="+mj-ea"/>
              <a:cs typeface="Arial"/>
              <a:sym typeface="Arial"/>
            </a:endParaRPr>
          </a:p>
        </p:txBody>
      </p:sp>
      <p:cxnSp>
        <p:nvCxnSpPr>
          <p:cNvPr id="71" name="Google Shape;71;p13"/>
          <p:cNvCxnSpPr/>
          <p:nvPr/>
        </p:nvCxnSpPr>
        <p:spPr>
          <a:xfrm flipH="1">
            <a:off x="4367856" y="3356992"/>
            <a:ext cx="432000" cy="252000"/>
          </a:xfrm>
          <a:prstGeom prst="straightConnector1">
            <a:avLst/>
          </a:prstGeom>
          <a:noFill/>
          <a:ln w="50800" cap="rnd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" name="Google Shape;72;p13"/>
          <p:cNvCxnSpPr/>
          <p:nvPr/>
        </p:nvCxnSpPr>
        <p:spPr>
          <a:xfrm flipH="1">
            <a:off x="1343472" y="2492896"/>
            <a:ext cx="432000" cy="252000"/>
          </a:xfrm>
          <a:prstGeom prst="straightConnector1">
            <a:avLst/>
          </a:prstGeom>
          <a:noFill/>
          <a:ln w="50800" cap="rnd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3" name="Google Shape;73;p13"/>
          <p:cNvGrpSpPr/>
          <p:nvPr/>
        </p:nvGrpSpPr>
        <p:grpSpPr>
          <a:xfrm>
            <a:off x="7104112" y="2475861"/>
            <a:ext cx="2967802" cy="523220"/>
            <a:chOff x="7104112" y="2475861"/>
            <a:chExt cx="2967802" cy="523220"/>
          </a:xfrm>
        </p:grpSpPr>
        <p:sp>
          <p:nvSpPr>
            <p:cNvPr id="74" name="Google Shape;74;p13"/>
            <p:cNvSpPr txBox="1"/>
            <p:nvPr/>
          </p:nvSpPr>
          <p:spPr>
            <a:xfrm>
              <a:off x="7104112" y="2475861"/>
              <a:ext cx="7537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0" i="0" u="none" strike="noStrike" cap="none">
                  <a:solidFill>
                    <a:srgbClr val="3F3F3F"/>
                  </a:solidFill>
                  <a:latin typeface="+mj-ea"/>
                  <a:ea typeface="+mj-ea"/>
                  <a:cs typeface="Arial"/>
                  <a:sym typeface="Arial"/>
                </a:rPr>
                <a:t>02.</a:t>
              </a:r>
              <a:endParaRPr>
                <a:latin typeface="+mj-ea"/>
                <a:ea typeface="+mj-ea"/>
              </a:endParaRPr>
            </a:p>
          </p:txBody>
        </p:sp>
        <p:sp>
          <p:nvSpPr>
            <p:cNvPr id="75" name="Google Shape;75;p13"/>
            <p:cNvSpPr txBox="1"/>
            <p:nvPr/>
          </p:nvSpPr>
          <p:spPr>
            <a:xfrm>
              <a:off x="7893112" y="2506638"/>
              <a:ext cx="21788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 b="0" i="0" u="none" strike="noStrike" cap="none">
                  <a:solidFill>
                    <a:srgbClr val="3F3F3F"/>
                  </a:solidFill>
                  <a:latin typeface="+mj-ea"/>
                  <a:ea typeface="+mj-ea"/>
                  <a:cs typeface="Arial"/>
                  <a:sym typeface="Arial"/>
                </a:rPr>
                <a:t>자  료   선  정</a:t>
              </a:r>
              <a:endParaRPr sz="2400" b="0" i="0" u="none" strike="noStrike" cap="none">
                <a:solidFill>
                  <a:srgbClr val="3F3F3F"/>
                </a:solidFill>
                <a:latin typeface="+mj-ea"/>
                <a:ea typeface="+mj-ea"/>
                <a:cs typeface="Arial"/>
                <a:sym typeface="Arial"/>
              </a:endParaRPr>
            </a:p>
          </p:txBody>
        </p:sp>
      </p:grpSp>
      <p:grpSp>
        <p:nvGrpSpPr>
          <p:cNvPr id="76" name="Google Shape;76;p13"/>
          <p:cNvGrpSpPr/>
          <p:nvPr/>
        </p:nvGrpSpPr>
        <p:grpSpPr>
          <a:xfrm>
            <a:off x="7104112" y="3682963"/>
            <a:ext cx="3003068" cy="523220"/>
            <a:chOff x="7104112" y="3682963"/>
            <a:chExt cx="3003068" cy="523220"/>
          </a:xfrm>
        </p:grpSpPr>
        <p:sp>
          <p:nvSpPr>
            <p:cNvPr id="77" name="Google Shape;77;p13"/>
            <p:cNvSpPr txBox="1"/>
            <p:nvPr/>
          </p:nvSpPr>
          <p:spPr>
            <a:xfrm>
              <a:off x="7104112" y="3682963"/>
              <a:ext cx="7537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0" i="0" u="none" strike="noStrike" cap="none">
                  <a:solidFill>
                    <a:srgbClr val="3F3F3F"/>
                  </a:solidFill>
                  <a:latin typeface="+mj-ea"/>
                  <a:ea typeface="+mj-ea"/>
                  <a:cs typeface="Arial"/>
                  <a:sym typeface="Arial"/>
                </a:rPr>
                <a:t>03.</a:t>
              </a:r>
              <a:endParaRPr>
                <a:latin typeface="+mj-ea"/>
                <a:ea typeface="+mj-ea"/>
              </a:endParaRPr>
            </a:p>
          </p:txBody>
        </p:sp>
        <p:sp>
          <p:nvSpPr>
            <p:cNvPr id="78" name="Google Shape;78;p13"/>
            <p:cNvSpPr txBox="1"/>
            <p:nvPr/>
          </p:nvSpPr>
          <p:spPr>
            <a:xfrm>
              <a:off x="7857846" y="3719102"/>
              <a:ext cx="224933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 b="0" i="0" u="none" strike="noStrike" cap="none">
                  <a:solidFill>
                    <a:srgbClr val="3F3F3F"/>
                  </a:solidFill>
                  <a:latin typeface="+mj-ea"/>
                  <a:ea typeface="+mj-ea"/>
                  <a:cs typeface="Arial"/>
                  <a:sym typeface="Arial"/>
                </a:rPr>
                <a:t>분석 및 모델링</a:t>
              </a:r>
              <a:endParaRPr sz="2400" b="0" i="0" u="none" strike="noStrike" cap="none">
                <a:solidFill>
                  <a:srgbClr val="3F3F3F"/>
                </a:solidFill>
                <a:latin typeface="+mj-ea"/>
                <a:ea typeface="+mj-ea"/>
                <a:cs typeface="Arial"/>
                <a:sym typeface="Arial"/>
              </a:endParaRPr>
            </a:p>
          </p:txBody>
        </p:sp>
      </p:grpSp>
      <p:grpSp>
        <p:nvGrpSpPr>
          <p:cNvPr id="79" name="Google Shape;79;p13"/>
          <p:cNvGrpSpPr/>
          <p:nvPr/>
        </p:nvGrpSpPr>
        <p:grpSpPr>
          <a:xfrm>
            <a:off x="7104112" y="4890066"/>
            <a:ext cx="3041540" cy="523220"/>
            <a:chOff x="7104112" y="4890066"/>
            <a:chExt cx="3041540" cy="523220"/>
          </a:xfrm>
        </p:grpSpPr>
        <p:sp>
          <p:nvSpPr>
            <p:cNvPr id="80" name="Google Shape;80;p13"/>
            <p:cNvSpPr txBox="1"/>
            <p:nvPr/>
          </p:nvSpPr>
          <p:spPr>
            <a:xfrm>
              <a:off x="7104112" y="4890066"/>
              <a:ext cx="7537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0" i="0" u="none" strike="noStrike" cap="none">
                  <a:solidFill>
                    <a:srgbClr val="3F3F3F"/>
                  </a:solidFill>
                  <a:latin typeface="+mj-ea"/>
                  <a:ea typeface="+mj-ea"/>
                  <a:cs typeface="Arial"/>
                  <a:sym typeface="Arial"/>
                </a:rPr>
                <a:t>04.</a:t>
              </a:r>
              <a:endParaRPr>
                <a:latin typeface="+mj-ea"/>
                <a:ea typeface="+mj-ea"/>
              </a:endParaRPr>
            </a:p>
          </p:txBody>
        </p:sp>
        <p:sp>
          <p:nvSpPr>
            <p:cNvPr id="81" name="Google Shape;81;p13"/>
            <p:cNvSpPr txBox="1"/>
            <p:nvPr/>
          </p:nvSpPr>
          <p:spPr>
            <a:xfrm>
              <a:off x="7819374" y="4920843"/>
              <a:ext cx="23262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 b="0" i="0" u="none" strike="noStrike" cap="none">
                  <a:solidFill>
                    <a:srgbClr val="3F3F3F"/>
                  </a:solidFill>
                  <a:latin typeface="+mj-ea"/>
                  <a:ea typeface="+mj-ea"/>
                  <a:cs typeface="Arial"/>
                  <a:sym typeface="Arial"/>
                </a:rPr>
                <a:t>결              론</a:t>
              </a:r>
              <a:endParaRPr sz="2400" b="0" i="0" u="none" strike="noStrike" cap="none">
                <a:solidFill>
                  <a:srgbClr val="3F3F3F"/>
                </a:solidFill>
                <a:latin typeface="+mj-ea"/>
                <a:ea typeface="+mj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2423592" y="1268760"/>
            <a:ext cx="792088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0" i="0" u="sng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2423592" y="2564904"/>
            <a:ext cx="792088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선정 이유</a:t>
            </a:r>
            <a:endParaRPr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15"/>
          <p:cNvSpPr txBox="1"/>
          <p:nvPr/>
        </p:nvSpPr>
        <p:spPr>
          <a:xfrm flipH="1">
            <a:off x="3215800" y="200834"/>
            <a:ext cx="6480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Arial"/>
                <a:sym typeface="Arial"/>
              </a:rPr>
              <a:t>기상청 예보</a:t>
            </a:r>
            <a:r>
              <a:rPr lang="ko-KR" sz="4000" b="1" dirty="0">
                <a:solidFill>
                  <a:schemeClr val="dk1"/>
                </a:solidFill>
                <a:latin typeface="+mn-ea"/>
                <a:ea typeface="+mn-ea"/>
              </a:rPr>
              <a:t>에 대한 의문</a:t>
            </a:r>
            <a:endParaRPr sz="4000" b="1" i="0" u="none" strike="noStrike" cap="none" dirty="0">
              <a:solidFill>
                <a:schemeClr val="dk1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pic>
        <p:nvPicPr>
          <p:cNvPr id="94" name="Google Shape;9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336" y="1340768"/>
            <a:ext cx="11547548" cy="377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421" y="2967623"/>
            <a:ext cx="11535827" cy="2340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9416" y="4693880"/>
            <a:ext cx="11233249" cy="201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3" name="Google Shape;10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775" y="1308946"/>
            <a:ext cx="4067175" cy="437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4325" y="991349"/>
            <a:ext cx="3819587" cy="30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11025" y="1708761"/>
            <a:ext cx="4664493" cy="28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81200" y="4214026"/>
            <a:ext cx="3447174" cy="24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3;p15">
            <a:extLst>
              <a:ext uri="{FF2B5EF4-FFF2-40B4-BE49-F238E27FC236}">
                <a16:creationId xmlns:a16="http://schemas.microsoft.com/office/drawing/2014/main" id="{8D7C9029-3523-4F7D-8CA4-AFD19F41F468}"/>
              </a:ext>
            </a:extLst>
          </p:cNvPr>
          <p:cNvSpPr txBox="1"/>
          <p:nvPr/>
        </p:nvSpPr>
        <p:spPr>
          <a:xfrm flipH="1">
            <a:off x="2855700" y="242240"/>
            <a:ext cx="6480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Arial"/>
                <a:sym typeface="Arial"/>
              </a:rPr>
              <a:t>선현의 지혜</a:t>
            </a:r>
            <a:r>
              <a:rPr lang="en-US" altLang="ko-KR" sz="4000" b="1" dirty="0">
                <a:solidFill>
                  <a:schemeClr val="dk1"/>
                </a:solidFill>
                <a:latin typeface="+mn-ea"/>
                <a:ea typeface="+mn-ea"/>
              </a:rPr>
              <a:t> / </a:t>
            </a:r>
            <a:r>
              <a:rPr lang="ko-KR" altLang="en-US" sz="4000" b="1" dirty="0">
                <a:solidFill>
                  <a:schemeClr val="dk1"/>
                </a:solidFill>
                <a:latin typeface="+mn-ea"/>
                <a:ea typeface="+mn-ea"/>
              </a:rPr>
              <a:t>빅데이터</a:t>
            </a:r>
            <a:r>
              <a:rPr lang="en-US" altLang="ko-KR" sz="4000" b="1" dirty="0">
                <a:solidFill>
                  <a:schemeClr val="dk1"/>
                </a:solidFill>
                <a:latin typeface="+mn-ea"/>
                <a:ea typeface="+mn-ea"/>
              </a:rPr>
              <a:t>?</a:t>
            </a:r>
            <a:endParaRPr sz="4000" b="1" i="0" u="none" strike="noStrike" cap="none" dirty="0">
              <a:solidFill>
                <a:schemeClr val="dk1"/>
              </a:solidFill>
              <a:latin typeface="+mn-ea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 flipH="1">
            <a:off x="6816040" y="1630225"/>
            <a:ext cx="5040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1">
                <a:solidFill>
                  <a:schemeClr val="dk1"/>
                </a:solidFill>
                <a:latin typeface="+mj-ea"/>
                <a:ea typeface="+mj-ea"/>
              </a:rPr>
              <a:t>기상청</a:t>
            </a:r>
            <a:endParaRPr sz="4000" b="1">
              <a:solidFill>
                <a:schemeClr val="dk1"/>
              </a:solidFill>
              <a:latin typeface="+mj-ea"/>
              <a:ea typeface="+mj-e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1">
                <a:solidFill>
                  <a:schemeClr val="dk1"/>
                </a:solidFill>
                <a:latin typeface="+mj-ea"/>
                <a:ea typeface="+mj-ea"/>
              </a:rPr>
              <a:t>일기예보</a:t>
            </a:r>
            <a:endParaRPr>
              <a:latin typeface="+mj-ea"/>
              <a:ea typeface="+mj-ea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7786255" y="3428999"/>
            <a:ext cx="3565236" cy="170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ko-KR" sz="2100" dirty="0">
                <a:latin typeface="+mj-ea"/>
                <a:ea typeface="+mj-ea"/>
              </a:rPr>
              <a:t>관측</a:t>
            </a:r>
            <a:endParaRPr sz="2100" dirty="0">
              <a:latin typeface="+mj-ea"/>
              <a:ea typeface="+mj-ea"/>
            </a:endParaRPr>
          </a:p>
          <a:p>
            <a:pPr marL="457200" marR="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ko-KR" sz="2100" dirty="0">
                <a:latin typeface="+mj-ea"/>
                <a:ea typeface="+mj-ea"/>
              </a:rPr>
              <a:t>자료 분석</a:t>
            </a:r>
            <a:endParaRPr sz="2100" dirty="0">
              <a:latin typeface="+mj-ea"/>
              <a:ea typeface="+mj-ea"/>
            </a:endParaRPr>
          </a:p>
          <a:p>
            <a:pPr marL="457200" marR="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ko-KR" sz="2100" dirty="0">
                <a:latin typeface="+mj-ea"/>
                <a:ea typeface="+mj-ea"/>
              </a:rPr>
              <a:t>현재 일기도 작성</a:t>
            </a:r>
            <a:endParaRPr sz="2100" dirty="0">
              <a:latin typeface="+mj-ea"/>
              <a:ea typeface="+mj-ea"/>
            </a:endParaRPr>
          </a:p>
          <a:p>
            <a:pPr marL="457200" marR="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ko-KR" sz="2100" dirty="0">
                <a:latin typeface="+mj-ea"/>
                <a:ea typeface="+mj-ea"/>
              </a:rPr>
              <a:t>예상 일기도 작성</a:t>
            </a:r>
            <a:endParaRPr sz="2100" dirty="0">
              <a:latin typeface="+mj-ea"/>
              <a:ea typeface="+mj-ea"/>
            </a:endParaRPr>
          </a:p>
          <a:p>
            <a:pPr marL="457200" marR="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ko-KR" sz="2100" dirty="0">
                <a:latin typeface="+mj-ea"/>
                <a:ea typeface="+mj-ea"/>
              </a:rPr>
              <a:t>예보 작성 및 통보</a:t>
            </a:r>
            <a:endParaRPr sz="2100" dirty="0">
              <a:latin typeface="+mj-ea"/>
              <a:ea typeface="+mj-ea"/>
            </a:endParaRPr>
          </a:p>
        </p:txBody>
      </p:sp>
      <p:pic>
        <p:nvPicPr>
          <p:cNvPr id="114" name="Google Shape;114;p17" descr="지도이(가) 표시된 사진&#10;&#10;자동 생성된 설명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14126"/>
            <a:ext cx="6543675" cy="6029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 flipH="1">
            <a:off x="3575690" y="443250"/>
            <a:ext cx="5040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1" dirty="0">
                <a:solidFill>
                  <a:schemeClr val="dk1"/>
                </a:solidFill>
                <a:latin typeface="+mj-ea"/>
                <a:ea typeface="+mj-ea"/>
              </a:rPr>
              <a:t>일기예보</a:t>
            </a:r>
            <a:r>
              <a:rPr lang="en-US" altLang="ko-KR" sz="4000" b="1" dirty="0">
                <a:solidFill>
                  <a:schemeClr val="dk1"/>
                </a:solidFill>
                <a:latin typeface="+mj-ea"/>
                <a:ea typeface="+mj-ea"/>
              </a:rPr>
              <a:t> &amp; </a:t>
            </a:r>
            <a:r>
              <a:rPr lang="ko-KR" altLang="en-US" sz="4000" b="1" dirty="0" err="1">
                <a:solidFill>
                  <a:schemeClr val="dk1"/>
                </a:solidFill>
                <a:latin typeface="+mj-ea"/>
                <a:ea typeface="+mj-ea"/>
              </a:rPr>
              <a:t>머신러닝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2368198" y="1754050"/>
            <a:ext cx="74556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기상청 - 관측되는 기상 정보와 예전의 데이터를 바탕으로 일기현상을 </a:t>
            </a:r>
            <a:r>
              <a:rPr lang="ko-KR" sz="2400" dirty="0">
                <a:solidFill>
                  <a:srgbClr val="FF0000"/>
                </a:solidFill>
                <a:latin typeface="+mj-ea"/>
                <a:ea typeface="+mj-ea"/>
                <a:cs typeface="Malgun Gothic"/>
                <a:sym typeface="Malgun Gothic"/>
              </a:rPr>
              <a:t>예측</a:t>
            </a:r>
            <a:r>
              <a:rPr 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함.</a:t>
            </a:r>
            <a:endParaRPr sz="2400" dirty="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dirty="0" err="1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머신러닝</a:t>
            </a:r>
            <a:r>
              <a:rPr 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 - 훈련 데이터(</a:t>
            </a:r>
            <a:r>
              <a:rPr lang="ko-KR" sz="2400" dirty="0" err="1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Training</a:t>
            </a:r>
            <a:r>
              <a:rPr 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 Data)</a:t>
            </a:r>
            <a:r>
              <a:rPr lang="ko-KR" sz="2400" dirty="0" err="1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를</a:t>
            </a:r>
            <a:r>
              <a:rPr 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 통해 학습된 알려진 속성을 기반으로 </a:t>
            </a:r>
            <a:r>
              <a:rPr lang="ko-KR" sz="2400" dirty="0">
                <a:solidFill>
                  <a:srgbClr val="FF0000"/>
                </a:solidFill>
                <a:latin typeface="+mj-ea"/>
                <a:ea typeface="+mj-ea"/>
                <a:cs typeface="Malgun Gothic"/>
                <a:sym typeface="Malgun Gothic"/>
              </a:rPr>
              <a:t>예측</a:t>
            </a:r>
            <a:r>
              <a:rPr 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에 초점을 두고 있다 </a:t>
            </a:r>
            <a:r>
              <a:rPr lang="ko-KR" sz="2400" i="1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(</a:t>
            </a:r>
            <a:r>
              <a:rPr lang="ko-KR" sz="2400" i="1" dirty="0" err="1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wikipedia</a:t>
            </a:r>
            <a:r>
              <a:rPr lang="ko-KR" sz="2400" i="1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)</a:t>
            </a:r>
            <a:endParaRPr sz="2400" i="1" dirty="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그렇다면, 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검증된 속성을 포함한</a:t>
            </a:r>
            <a:r>
              <a:rPr 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 데이터가 있다면</a:t>
            </a:r>
            <a:endParaRPr sz="2400" dirty="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 err="1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머신러닝</a:t>
            </a:r>
            <a:r>
              <a:rPr 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 모델링을 통해 직접 </a:t>
            </a:r>
            <a:r>
              <a:rPr lang="ko-KR" sz="2400" dirty="0">
                <a:solidFill>
                  <a:srgbClr val="FF0000"/>
                </a:solidFill>
                <a:latin typeface="+mj-ea"/>
                <a:ea typeface="+mj-ea"/>
                <a:cs typeface="Malgun Gothic"/>
                <a:sym typeface="Malgun Gothic"/>
              </a:rPr>
              <a:t>예측</a:t>
            </a:r>
            <a:r>
              <a:rPr 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해볼 수 있지 않을까?</a:t>
            </a:r>
            <a:endParaRPr dirty="0"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2423592" y="1268760"/>
            <a:ext cx="792088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0" i="0" u="sng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2423592" y="2564904"/>
            <a:ext cx="792088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자료 선정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6800" y="150000"/>
            <a:ext cx="100584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500" y="962025"/>
            <a:ext cx="11811000" cy="49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" name="Google Shape;145;p22">
            <a:extLst>
              <a:ext uri="{FF2B5EF4-FFF2-40B4-BE49-F238E27FC236}">
                <a16:creationId xmlns:a16="http://schemas.microsoft.com/office/drawing/2014/main" id="{CA85466D-06F8-48D2-A7B8-14721751C7D2}"/>
              </a:ext>
            </a:extLst>
          </p:cNvPr>
          <p:cNvGrpSpPr/>
          <p:nvPr/>
        </p:nvGrpSpPr>
        <p:grpSpPr>
          <a:xfrm>
            <a:off x="140504" y="120175"/>
            <a:ext cx="6325610" cy="3201523"/>
            <a:chOff x="385665" y="0"/>
            <a:chExt cx="11420670" cy="6858000"/>
          </a:xfrm>
        </p:grpSpPr>
        <p:pic>
          <p:nvPicPr>
            <p:cNvPr id="10" name="Google Shape;146;p22" descr="텍스트이(가) 표시된 사진&#10;&#10;자동 생성된 설명">
              <a:extLst>
                <a:ext uri="{FF2B5EF4-FFF2-40B4-BE49-F238E27FC236}">
                  <a16:creationId xmlns:a16="http://schemas.microsoft.com/office/drawing/2014/main" id="{1FABF7F9-949A-49F2-9C98-05E5F9D2C53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5665" y="0"/>
              <a:ext cx="1142067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47;p22">
              <a:extLst>
                <a:ext uri="{FF2B5EF4-FFF2-40B4-BE49-F238E27FC236}">
                  <a16:creationId xmlns:a16="http://schemas.microsoft.com/office/drawing/2014/main" id="{6D8B9F12-4A1D-4C99-B7CC-146A7CF9B73E}"/>
                </a:ext>
              </a:extLst>
            </p:cNvPr>
            <p:cNvSpPr/>
            <p:nvPr/>
          </p:nvSpPr>
          <p:spPr>
            <a:xfrm>
              <a:off x="551394" y="3428155"/>
              <a:ext cx="7128900" cy="28812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2" name="Google Shape;160;p24">
            <a:extLst>
              <a:ext uri="{FF2B5EF4-FFF2-40B4-BE49-F238E27FC236}">
                <a16:creationId xmlns:a16="http://schemas.microsoft.com/office/drawing/2014/main" id="{C624DBD7-6DB6-4D9C-B7F8-646C47C8EAC0}"/>
              </a:ext>
            </a:extLst>
          </p:cNvPr>
          <p:cNvSpPr txBox="1"/>
          <p:nvPr/>
        </p:nvSpPr>
        <p:spPr>
          <a:xfrm>
            <a:off x="6621090" y="1753592"/>
            <a:ext cx="5430406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62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시간자료와</a:t>
            </a: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 </a:t>
            </a:r>
            <a:r>
              <a:rPr lang="ko-KR" altLang="en-US" sz="2400" dirty="0" err="1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일자료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 데이터 중 시간 자료 데이터는 </a:t>
            </a: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API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를 통해 불러 오는 시간이 너무 오래 걸리기 때문에 </a:t>
            </a:r>
            <a:endParaRPr lang="en-US" altLang="ko-KR" sz="2400" dirty="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762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제한된 시간안에 프로젝트를 완성하기 어려워 비교적 데이터가 적은 </a:t>
            </a:r>
            <a:r>
              <a:rPr lang="ko-KR" altLang="en-US" sz="2400" dirty="0" err="1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일자료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 데이터를 최종적으로 선택하여 활용하였음</a:t>
            </a: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.</a:t>
            </a:r>
          </a:p>
        </p:txBody>
      </p:sp>
      <p:grpSp>
        <p:nvGrpSpPr>
          <p:cNvPr id="13" name="Google Shape;153;p23">
            <a:extLst>
              <a:ext uri="{FF2B5EF4-FFF2-40B4-BE49-F238E27FC236}">
                <a16:creationId xmlns:a16="http://schemas.microsoft.com/office/drawing/2014/main" id="{873E6B84-644C-44B6-95B4-EF7AEB895CF5}"/>
              </a:ext>
            </a:extLst>
          </p:cNvPr>
          <p:cNvGrpSpPr/>
          <p:nvPr/>
        </p:nvGrpSpPr>
        <p:grpSpPr>
          <a:xfrm>
            <a:off x="140503" y="3429000"/>
            <a:ext cx="6325609" cy="3201523"/>
            <a:chOff x="385665" y="0"/>
            <a:chExt cx="11420670" cy="6858000"/>
          </a:xfrm>
        </p:grpSpPr>
        <p:pic>
          <p:nvPicPr>
            <p:cNvPr id="14" name="Google Shape;154;p23" descr="텍스트이(가) 표시된 사진&#10;&#10;자동 생성된 설명">
              <a:extLst>
                <a:ext uri="{FF2B5EF4-FFF2-40B4-BE49-F238E27FC236}">
                  <a16:creationId xmlns:a16="http://schemas.microsoft.com/office/drawing/2014/main" id="{6CBD93A5-0D39-42C7-B981-8CF090AD7E7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5665" y="0"/>
              <a:ext cx="1142067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5;p23">
              <a:extLst>
                <a:ext uri="{FF2B5EF4-FFF2-40B4-BE49-F238E27FC236}">
                  <a16:creationId xmlns:a16="http://schemas.microsoft.com/office/drawing/2014/main" id="{33DEFF94-3720-4389-9A7D-9CA1578DAEC5}"/>
                </a:ext>
              </a:extLst>
            </p:cNvPr>
            <p:cNvSpPr/>
            <p:nvPr/>
          </p:nvSpPr>
          <p:spPr>
            <a:xfrm>
              <a:off x="551384" y="4941168"/>
              <a:ext cx="7128900" cy="13683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19DB9F5E-C88F-48FE-999A-017003DEF963}"/>
              </a:ext>
            </a:extLst>
          </p:cNvPr>
          <p:cNvSpPr/>
          <p:nvPr/>
        </p:nvSpPr>
        <p:spPr>
          <a:xfrm>
            <a:off x="1576874" y="3218999"/>
            <a:ext cx="914400" cy="215326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/>
        </p:nvSpPr>
        <p:spPr>
          <a:xfrm>
            <a:off x="2272198" y="1213327"/>
            <a:ext cx="76476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Open API를 활용하여 실시간 데이터 및 일별 데이터를 확보 할 수 있음</a:t>
            </a:r>
            <a:endParaRPr sz="240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실시간데이터를 활용하기에는 시간 및 리소스가 부족함</a:t>
            </a:r>
            <a:endParaRPr sz="240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일별 데이터를 활용하여 데이터를 CSV 파일로 정제하여 데이터 안정성을 높여서 모델링에 초점을 둔다.</a:t>
            </a:r>
            <a:endParaRPr sz="240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2010~2021 각 해의 06.05~08.05까지</a:t>
            </a:r>
            <a:endParaRPr sz="240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여름 장마철을 중점.</a:t>
            </a:r>
            <a:endParaRPr sz="240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실제 예보에는 흐림, 안개 와 같은 강수량과 상관이 없는 예보가 있음 이를 전부 라벨(y)로 분류할 수 없기때문에 맑음 / 비 두 가지로 분류함</a:t>
            </a:r>
            <a:endParaRPr sz="240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 flipH="1">
            <a:off x="1585499" y="285000"/>
            <a:ext cx="9021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700" b="1">
                <a:solidFill>
                  <a:schemeClr val="dk1"/>
                </a:solidFill>
                <a:latin typeface="+mj-ea"/>
                <a:ea typeface="+mj-ea"/>
              </a:rPr>
              <a:t>데이터 선정 이유</a:t>
            </a:r>
            <a:endParaRPr sz="1100"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/>
        </p:nvSpPr>
        <p:spPr>
          <a:xfrm>
            <a:off x="2423592" y="1268760"/>
            <a:ext cx="792088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0" i="0" u="sng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/>
          </a:p>
        </p:txBody>
      </p:sp>
      <p:sp>
        <p:nvSpPr>
          <p:cNvPr id="167" name="Google Shape;167;p25"/>
          <p:cNvSpPr txBox="1"/>
          <p:nvPr/>
        </p:nvSpPr>
        <p:spPr>
          <a:xfrm>
            <a:off x="2423592" y="2564904"/>
            <a:ext cx="79209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및 모델링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/>
        </p:nvSpPr>
        <p:spPr>
          <a:xfrm flipH="1">
            <a:off x="1585499" y="285000"/>
            <a:ext cx="9021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700" b="1">
                <a:solidFill>
                  <a:schemeClr val="dk1"/>
                </a:solidFill>
                <a:latin typeface="+mn-ea"/>
                <a:ea typeface="+mn-ea"/>
              </a:rPr>
              <a:t>Feature Selection 후 각 모델 Score</a:t>
            </a:r>
            <a:endParaRPr sz="1100">
              <a:latin typeface="+mn-ea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97ED3C9-2F17-4147-8458-31C472F8F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834" y="1479089"/>
            <a:ext cx="8369216" cy="4548487"/>
          </a:xfrm>
          <a:prstGeom prst="rect">
            <a:avLst/>
          </a:prstGeom>
        </p:spPr>
      </p:pic>
      <p:sp>
        <p:nvSpPr>
          <p:cNvPr id="4" name="Google Shape;160;p24">
            <a:extLst>
              <a:ext uri="{FF2B5EF4-FFF2-40B4-BE49-F238E27FC236}">
                <a16:creationId xmlns:a16="http://schemas.microsoft.com/office/drawing/2014/main" id="{1C415963-3E9E-4CFE-95F8-F6D4E3F1FC70}"/>
              </a:ext>
            </a:extLst>
          </p:cNvPr>
          <p:cNvSpPr txBox="1"/>
          <p:nvPr/>
        </p:nvSpPr>
        <p:spPr>
          <a:xfrm>
            <a:off x="9022701" y="1893551"/>
            <a:ext cx="2888835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62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임의로 설정한 </a:t>
            </a: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feature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들을 이용하여 모델 스코어를 확인해본 결과 </a:t>
            </a:r>
            <a:r>
              <a:rPr lang="en-US" altLang="ko-KR" sz="2400" dirty="0" err="1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XGBoost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가</a:t>
            </a:r>
            <a:endParaRPr lang="en-US" altLang="ko-KR" sz="2400" dirty="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762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Train 94%</a:t>
            </a:r>
          </a:p>
          <a:p>
            <a:pPr marL="762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Test 92 %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로 제일 높은 성적을 보여줌</a:t>
            </a:r>
            <a:endParaRPr lang="en-US" altLang="ko-KR" sz="2400" dirty="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/>
        </p:nvSpPr>
        <p:spPr>
          <a:xfrm flipH="1">
            <a:off x="1770149" y="126725"/>
            <a:ext cx="9021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700" b="1" dirty="0" err="1">
                <a:solidFill>
                  <a:schemeClr val="dk1"/>
                </a:solidFill>
                <a:latin typeface="+mj-ea"/>
                <a:ea typeface="+mj-ea"/>
              </a:rPr>
              <a:t>Rasso</a:t>
            </a:r>
            <a:r>
              <a:rPr lang="ko-KR" sz="3700" b="1" dirty="0">
                <a:solidFill>
                  <a:schemeClr val="dk1"/>
                </a:solidFill>
                <a:latin typeface="+mj-ea"/>
                <a:ea typeface="+mj-ea"/>
              </a:rPr>
              <a:t> / </a:t>
            </a:r>
            <a:r>
              <a:rPr lang="ko-KR" sz="3700" b="1" dirty="0" err="1">
                <a:solidFill>
                  <a:schemeClr val="dk1"/>
                </a:solidFill>
                <a:latin typeface="+mj-ea"/>
                <a:ea typeface="+mj-ea"/>
              </a:rPr>
              <a:t>Ridge</a:t>
            </a:r>
            <a:r>
              <a:rPr lang="ko-KR" sz="3700" b="1" dirty="0">
                <a:solidFill>
                  <a:schemeClr val="dk1"/>
                </a:solidFill>
                <a:latin typeface="+mj-ea"/>
                <a:ea typeface="+mj-ea"/>
              </a:rPr>
              <a:t> 자동 </a:t>
            </a:r>
            <a:r>
              <a:rPr lang="ko-KR" sz="3700" b="1" dirty="0" err="1">
                <a:solidFill>
                  <a:schemeClr val="dk1"/>
                </a:solidFill>
                <a:latin typeface="+mj-ea"/>
                <a:ea typeface="+mj-ea"/>
              </a:rPr>
              <a:t>Feature</a:t>
            </a:r>
            <a:r>
              <a:rPr lang="ko-KR" sz="3700" b="1" dirty="0">
                <a:solidFill>
                  <a:schemeClr val="dk1"/>
                </a:solidFill>
                <a:latin typeface="+mj-ea"/>
                <a:ea typeface="+mj-ea"/>
              </a:rPr>
              <a:t> 선택</a:t>
            </a:r>
            <a:endParaRPr sz="1100" dirty="0">
              <a:latin typeface="+mj-ea"/>
              <a:ea typeface="+mj-ea"/>
            </a:endParaRPr>
          </a:p>
        </p:txBody>
      </p:sp>
      <p:pic>
        <p:nvPicPr>
          <p:cNvPr id="179" name="Google Shape;17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690" y="1201472"/>
            <a:ext cx="8094233" cy="54472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3B4F8384-3C5D-4CEF-8134-2474B1905DD8}"/>
              </a:ext>
            </a:extLst>
          </p:cNvPr>
          <p:cNvSpPr/>
          <p:nvPr/>
        </p:nvSpPr>
        <p:spPr>
          <a:xfrm>
            <a:off x="2117226" y="5196840"/>
            <a:ext cx="431800" cy="4724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8D1A31A-24C8-4D13-A6C2-41FDDE2E909F}"/>
              </a:ext>
            </a:extLst>
          </p:cNvPr>
          <p:cNvSpPr/>
          <p:nvPr/>
        </p:nvSpPr>
        <p:spPr>
          <a:xfrm>
            <a:off x="3380743" y="4960620"/>
            <a:ext cx="431800" cy="4724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34908B3-BF0B-43DA-8346-8D1C3B405866}"/>
              </a:ext>
            </a:extLst>
          </p:cNvPr>
          <p:cNvSpPr/>
          <p:nvPr/>
        </p:nvSpPr>
        <p:spPr>
          <a:xfrm>
            <a:off x="5325279" y="5184088"/>
            <a:ext cx="431800" cy="4724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74C3039-F88F-4C12-996B-4EBA25BE764D}"/>
              </a:ext>
            </a:extLst>
          </p:cNvPr>
          <p:cNvSpPr/>
          <p:nvPr/>
        </p:nvSpPr>
        <p:spPr>
          <a:xfrm>
            <a:off x="6866723" y="4394407"/>
            <a:ext cx="431800" cy="4724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B6E6971-DD6A-48E5-AE6E-A97C569A8BDC}"/>
              </a:ext>
            </a:extLst>
          </p:cNvPr>
          <p:cNvSpPr/>
          <p:nvPr/>
        </p:nvSpPr>
        <p:spPr>
          <a:xfrm>
            <a:off x="4893479" y="4633893"/>
            <a:ext cx="431800" cy="4724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310FBC3-F580-4BA3-ADB1-19677B3B8FC1}"/>
              </a:ext>
            </a:extLst>
          </p:cNvPr>
          <p:cNvSpPr/>
          <p:nvPr/>
        </p:nvSpPr>
        <p:spPr>
          <a:xfrm>
            <a:off x="7392907" y="5184088"/>
            <a:ext cx="431800" cy="4724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Google Shape;160;p24">
            <a:extLst>
              <a:ext uri="{FF2B5EF4-FFF2-40B4-BE49-F238E27FC236}">
                <a16:creationId xmlns:a16="http://schemas.microsoft.com/office/drawing/2014/main" id="{3453E3A7-EC4A-402E-B3E1-3DDE8589B71C}"/>
              </a:ext>
            </a:extLst>
          </p:cNvPr>
          <p:cNvSpPr txBox="1"/>
          <p:nvPr/>
        </p:nvSpPr>
        <p:spPr>
          <a:xfrm>
            <a:off x="8266923" y="1408922"/>
            <a:ext cx="4077478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62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Auto Feature Selection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을 활용하여 </a:t>
            </a: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Feature Importance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를 활용 하려 해보았으나 몇몇개의 </a:t>
            </a: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Feature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를 제외하고는 다 필요 없는 </a:t>
            </a: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Feature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로 판명하여 실질적으로 </a:t>
            </a: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Auto Feature Selection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을 활용하기 어렵다고 판단</a:t>
            </a: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 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참고용으로만 활용함</a:t>
            </a: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.</a:t>
            </a:r>
          </a:p>
          <a:p>
            <a:pPr marL="762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US" altLang="ko-KR" sz="2400" dirty="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762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US" altLang="ko-KR" sz="2400" dirty="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/>
        </p:nvSpPr>
        <p:spPr>
          <a:xfrm flipH="1">
            <a:off x="1585499" y="285000"/>
            <a:ext cx="9021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700" b="1" dirty="0">
                <a:solidFill>
                  <a:schemeClr val="dk1"/>
                </a:solidFill>
                <a:latin typeface="+mn-ea"/>
                <a:ea typeface="+mn-ea"/>
              </a:rPr>
              <a:t>SVM / </a:t>
            </a:r>
            <a:r>
              <a:rPr lang="ko-KR" sz="3700" b="1" dirty="0" err="1">
                <a:solidFill>
                  <a:schemeClr val="dk1"/>
                </a:solidFill>
                <a:latin typeface="+mn-ea"/>
                <a:ea typeface="+mn-ea"/>
              </a:rPr>
              <a:t>RandomForest</a:t>
            </a:r>
            <a:r>
              <a:rPr lang="ko-KR" sz="3700" b="1" dirty="0">
                <a:solidFill>
                  <a:schemeClr val="dk1"/>
                </a:solidFill>
                <a:latin typeface="+mn-ea"/>
                <a:ea typeface="+mn-ea"/>
              </a:rPr>
              <a:t> </a:t>
            </a:r>
            <a:r>
              <a:rPr lang="ko-KR" sz="3700" b="1" dirty="0" err="1">
                <a:solidFill>
                  <a:schemeClr val="dk1"/>
                </a:solidFill>
                <a:latin typeface="+mn-ea"/>
                <a:ea typeface="+mn-ea"/>
              </a:rPr>
              <a:t>Score</a:t>
            </a:r>
            <a:r>
              <a:rPr lang="ko-KR" sz="3700" b="1" dirty="0">
                <a:solidFill>
                  <a:schemeClr val="dk1"/>
                </a:solidFill>
                <a:latin typeface="+mn-ea"/>
                <a:ea typeface="+mn-ea"/>
              </a:rPr>
              <a:t>(기상청)</a:t>
            </a:r>
            <a:endParaRPr sz="1100" dirty="0">
              <a:latin typeface="+mn-ea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667FE53-DA29-4CD1-B647-4DB922C4B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61" y="1245380"/>
            <a:ext cx="8532390" cy="4856841"/>
          </a:xfrm>
          <a:prstGeom prst="rect">
            <a:avLst/>
          </a:prstGeom>
        </p:spPr>
      </p:pic>
      <p:sp>
        <p:nvSpPr>
          <p:cNvPr id="4" name="Google Shape;160;p24">
            <a:extLst>
              <a:ext uri="{FF2B5EF4-FFF2-40B4-BE49-F238E27FC236}">
                <a16:creationId xmlns:a16="http://schemas.microsoft.com/office/drawing/2014/main" id="{A13D955C-038B-4651-8F50-5D9470128CAB}"/>
              </a:ext>
            </a:extLst>
          </p:cNvPr>
          <p:cNvSpPr txBox="1"/>
          <p:nvPr/>
        </p:nvSpPr>
        <p:spPr>
          <a:xfrm>
            <a:off x="9004041" y="1310694"/>
            <a:ext cx="3047455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62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옆의 그래프는</a:t>
            </a:r>
            <a:endParaRPr lang="en-US" altLang="ko-KR" sz="1800" dirty="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762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기상청이 날씨 </a:t>
            </a:r>
            <a:r>
              <a:rPr lang="ko-KR" altLang="en-US" sz="1800" dirty="0" err="1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예측할때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 사용 하는 </a:t>
            </a: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Feature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들을 넣고 돌린 </a:t>
            </a: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Score 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값이다</a:t>
            </a: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.</a:t>
            </a:r>
          </a:p>
          <a:p>
            <a:pPr marL="762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US" altLang="ko-KR" sz="1800" dirty="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762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SVM 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모델은 과적합으로 인하여 활용할 수 없고</a:t>
            </a: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,</a:t>
            </a:r>
          </a:p>
          <a:p>
            <a:pPr marL="762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Random Forest 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모델은 과적합은 아니지만 </a:t>
            </a:r>
            <a:r>
              <a:rPr lang="en-US" altLang="ko-KR" sz="1800" dirty="0" err="1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XGBoost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에 비해 성능이 낮아 최종적으로 높은 성능을 보여준 </a:t>
            </a:r>
            <a:r>
              <a:rPr lang="en-US" altLang="ko-KR" sz="1800" dirty="0" err="1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XGBoost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를 활용함</a:t>
            </a: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.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 </a:t>
            </a:r>
            <a:endParaRPr lang="en-US" altLang="ko-KR" sz="1800" dirty="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/>
        </p:nvSpPr>
        <p:spPr>
          <a:xfrm flipH="1">
            <a:off x="1585499" y="285000"/>
            <a:ext cx="9021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700" b="1">
                <a:solidFill>
                  <a:schemeClr val="dk1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 err="1"/>
              <a:t>RandomForest</a:t>
            </a:r>
            <a:r>
              <a:rPr lang="en-US" altLang="ko-KR" dirty="0"/>
              <a:t> </a:t>
            </a:r>
            <a:r>
              <a:rPr lang="ko-KR" altLang="en-US" dirty="0" err="1"/>
              <a:t>최적값</a:t>
            </a:r>
            <a:r>
              <a:rPr lang="ko-KR" altLang="en-US" dirty="0"/>
              <a:t> 찾기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340E07-C169-44BE-9EEA-8F6546D25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35" y="1571616"/>
            <a:ext cx="7727413" cy="420403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EE6357F-E38E-4EAB-B648-3C553D3067CC}"/>
              </a:ext>
            </a:extLst>
          </p:cNvPr>
          <p:cNvSpPr/>
          <p:nvPr/>
        </p:nvSpPr>
        <p:spPr>
          <a:xfrm>
            <a:off x="1585499" y="3714390"/>
            <a:ext cx="256032" cy="1747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Google Shape;160;p24">
            <a:extLst>
              <a:ext uri="{FF2B5EF4-FFF2-40B4-BE49-F238E27FC236}">
                <a16:creationId xmlns:a16="http://schemas.microsoft.com/office/drawing/2014/main" id="{A0C744FF-7691-4194-B0E9-FC192EE8723E}"/>
              </a:ext>
            </a:extLst>
          </p:cNvPr>
          <p:cNvSpPr txBox="1"/>
          <p:nvPr/>
        </p:nvSpPr>
        <p:spPr>
          <a:xfrm>
            <a:off x="8294915" y="2334824"/>
            <a:ext cx="3765912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62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Depth 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설정을 통하여 성능 개선을 시도하였을 때 </a:t>
            </a: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Depth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가 </a:t>
            </a: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4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이상으로 넘어가면 </a:t>
            </a:r>
            <a:r>
              <a:rPr lang="ko-KR" altLang="en-US" sz="2400" dirty="0" err="1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과적합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 되는 현상을 보여 가장 합리적인 성능인 </a:t>
            </a: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Depth 3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을</a:t>
            </a: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 </a:t>
            </a:r>
            <a:r>
              <a:rPr lang="ko-KR" altLang="en-US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선택함</a:t>
            </a:r>
            <a:r>
              <a:rPr lang="en-US" altLang="ko-KR" sz="24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.</a:t>
            </a:r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/>
        </p:nvSpPr>
        <p:spPr>
          <a:xfrm flipH="1">
            <a:off x="1585499" y="285000"/>
            <a:ext cx="9021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700" b="1" dirty="0">
                <a:solidFill>
                  <a:schemeClr val="dk1"/>
                </a:solidFill>
                <a:latin typeface="+mn-ea"/>
                <a:ea typeface="+mn-ea"/>
              </a:rPr>
              <a:t>교차검증</a:t>
            </a:r>
            <a:endParaRPr sz="3700" b="1" dirty="0">
              <a:solidFill>
                <a:schemeClr val="dk1"/>
              </a:solidFill>
              <a:latin typeface="+mn-ea"/>
              <a:ea typeface="+mn-ea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DD1B13A-7C51-4D3D-9926-C84ECE057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360" y="946800"/>
            <a:ext cx="7992999" cy="559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/>
        </p:nvSpPr>
        <p:spPr>
          <a:xfrm>
            <a:off x="2423592" y="1268760"/>
            <a:ext cx="792088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0" i="0" u="sng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/>
          </a:p>
        </p:txBody>
      </p:sp>
      <p:sp>
        <p:nvSpPr>
          <p:cNvPr id="203" name="Google Shape;203;p31"/>
          <p:cNvSpPr txBox="1"/>
          <p:nvPr/>
        </p:nvSpPr>
        <p:spPr>
          <a:xfrm>
            <a:off x="2423592" y="2564904"/>
            <a:ext cx="792088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    론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/>
        </p:nvSpPr>
        <p:spPr>
          <a:xfrm flipH="1">
            <a:off x="1585499" y="285000"/>
            <a:ext cx="9021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700" b="1">
                <a:solidFill>
                  <a:schemeClr val="dk1"/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/>
              <a:t>혼돈행렬을 이용한 평가</a:t>
            </a:r>
            <a:endParaRPr dirty="0"/>
          </a:p>
          <a:p>
            <a:r>
              <a:rPr lang="en-US" altLang="ko-KR" dirty="0"/>
              <a:t>2021.06.05 ~ 07.13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84A1FA-AC81-4173-B554-9A4273F67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75804"/>
            <a:ext cx="6662928" cy="499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6FEE595-BECE-410D-9E2C-4E78062DF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0403" y="2909887"/>
            <a:ext cx="3248025" cy="103822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/>
        </p:nvSpPr>
        <p:spPr>
          <a:xfrm>
            <a:off x="2272198" y="1213327"/>
            <a:ext cx="764760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기상청의 예보는 “맑음”, “구름 많음”, “흐림” 등 소분류가 존재하기에 더 많은 변수에 영향을 받음.</a:t>
            </a:r>
            <a:endParaRPr sz="2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기상예보는 데이터를 기반으로 하기에, 센서 유무, 데이터 전송 등의 물리적, 기술적 한계가 존재함.</a:t>
            </a:r>
            <a:endParaRPr sz="2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제작한 모델링은 맑음/</a:t>
            </a:r>
            <a:r>
              <a:rPr lang="ko-KR" sz="2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비옴</a:t>
            </a: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두 가지로만 나누어 위와 같은 복잡성을 배제</a:t>
            </a:r>
            <a:r>
              <a:rPr lang="ko-KR" altLang="en-US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</a:t>
            </a:r>
            <a:r>
              <a:rPr lang="en-US" alt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81</a:t>
            </a: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% </a:t>
            </a:r>
            <a:r>
              <a:rPr lang="ko-KR" altLang="en-US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정도의</a:t>
            </a: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정확도를 보여줌.</a:t>
            </a:r>
            <a:r>
              <a:rPr lang="en-US" alt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(여름 한정)</a:t>
            </a:r>
            <a:endParaRPr sz="2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계절의 경우 </a:t>
            </a:r>
            <a:r>
              <a:rPr lang="ko-KR" sz="2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</a:t>
            </a: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(기온, 습도 등)가 매우 다른 양상을 가지기 때문에 학습 데이터양(범위)</a:t>
            </a:r>
            <a:r>
              <a:rPr lang="ko-KR" altLang="en-US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</a:t>
            </a: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늘려야함.</a:t>
            </a:r>
            <a:endParaRPr lang="en-US" altLang="ko-KR" sz="2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indent="-381000"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altLang="en-US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실제로는 기상청의 예보가 실사용자가 체감하는 것과는 달리 매우 높은 정확도를 보여주며</a:t>
            </a: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자연현상의 특성상 급격하게 변할 수 있다.</a:t>
            </a:r>
            <a:b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(한국 기상청 정확도 85%)</a:t>
            </a:r>
            <a:endParaRPr sz="2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5" name="Google Shape;215;p33"/>
          <p:cNvSpPr txBox="1"/>
          <p:nvPr/>
        </p:nvSpPr>
        <p:spPr>
          <a:xfrm flipH="1">
            <a:off x="1585499" y="285000"/>
            <a:ext cx="9021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700" b="1" dirty="0">
                <a:solidFill>
                  <a:schemeClr val="dk1"/>
                </a:solidFill>
                <a:latin typeface="+mn-ea"/>
                <a:ea typeface="+mn-ea"/>
              </a:rPr>
              <a:t>프로젝트</a:t>
            </a:r>
            <a:r>
              <a:rPr lang="ko-KR" sz="3700" b="1" dirty="0">
                <a:solidFill>
                  <a:schemeClr val="dk1"/>
                </a:solidFill>
                <a:latin typeface="+mn-ea"/>
                <a:ea typeface="+mn-ea"/>
              </a:rPr>
              <a:t> 결론</a:t>
            </a:r>
            <a:endParaRPr sz="1100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/>
        </p:nvSpPr>
        <p:spPr>
          <a:xfrm>
            <a:off x="2272198" y="1213327"/>
            <a:ext cx="76476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시간별 데이터까지 활용해서 예측 모델을 제작하였다면, 더 높은 정확도를 가질 수 있었을 것이다.</a:t>
            </a:r>
            <a:endParaRPr sz="2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1월부터 12월까지의 모든 데이터를 활용하였다면 다른 계절의 날씨 예측 해 볼 수 있었을 것이다.</a:t>
            </a:r>
            <a:endParaRPr sz="2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Feature에</a:t>
            </a: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대한 이해도 부족.</a:t>
            </a:r>
            <a:endParaRPr sz="2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1" name="Google Shape;221;p34"/>
          <p:cNvSpPr txBox="1"/>
          <p:nvPr/>
        </p:nvSpPr>
        <p:spPr>
          <a:xfrm flipH="1">
            <a:off x="1585499" y="285000"/>
            <a:ext cx="9021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700" b="1" dirty="0">
                <a:solidFill>
                  <a:schemeClr val="dk1"/>
                </a:solidFill>
                <a:latin typeface="+mn-ea"/>
                <a:ea typeface="+mn-ea"/>
              </a:rPr>
              <a:t>보완</a:t>
            </a:r>
            <a:r>
              <a:rPr lang="ko-KR" sz="3700" b="1" dirty="0">
                <a:solidFill>
                  <a:schemeClr val="dk1"/>
                </a:solidFill>
                <a:latin typeface="+mn-ea"/>
                <a:ea typeface="+mn-ea"/>
              </a:rPr>
              <a:t>점</a:t>
            </a:r>
            <a:endParaRPr sz="1100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/>
        </p:nvSpPr>
        <p:spPr>
          <a:xfrm flipH="1">
            <a:off x="1585499" y="3098100"/>
            <a:ext cx="9021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700" b="1">
                <a:solidFill>
                  <a:schemeClr val="dk1"/>
                </a:solidFill>
              </a:rPr>
              <a:t>Q &amp; A</a:t>
            </a:r>
            <a:endParaRPr sz="1100"/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/>
        </p:nvSpPr>
        <p:spPr>
          <a:xfrm>
            <a:off x="5646280" y="2110149"/>
            <a:ext cx="50406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특성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Features 65 개 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전처리 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Selection&gt; 39 개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p36"/>
          <p:cNvSpPr txBox="1"/>
          <p:nvPr/>
        </p:nvSpPr>
        <p:spPr>
          <a:xfrm>
            <a:off x="500205" y="116099"/>
            <a:ext cx="5040600" cy="6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순서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API 불러오기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CSV파일 생성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전 처리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Lasso / Ridge를 통한 Feature Auto selection 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Scoring 후 분석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임의로 설정한 Feature를 통해 SVM RandomForest를 적용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Scoring 후 분석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기상청 Feature Selection Set 적용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Scoring 후 분석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RandomForest, 최적값(depth) 산출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교차검증(CrossValidation)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최적값 모델로 예측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혼돈행렬을 이용한 평가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7" descr="https://images.unsplash.com/photo-1451847251646-8a6c0dd1510c?ixlib=rb-0.3.5&amp;ixid=eyJhcHBfaWQiOjEyMDd9&amp;s=b087e70d55ab588d32bf982c2f281e2f&amp;dpr=1&amp;auto=format&amp;fit=crop&amp;w=1000&amp;q=80&amp;cs=tinysrgb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0" y="0"/>
            <a:ext cx="12193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4593029" y="2659559"/>
            <a:ext cx="300595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4400" b="1" i="0" u="none" strike="noStrike" cap="none" dirty="0">
              <a:solidFill>
                <a:schemeClr val="lt1"/>
              </a:solidFill>
              <a:latin typeface="+mj-ea"/>
              <a:ea typeface="+mj-ea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605</Words>
  <Application>Microsoft Office PowerPoint</Application>
  <PresentationFormat>와이드스크린</PresentationFormat>
  <Paragraphs>93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굴림</vt:lpstr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Seung Keun Kim</dc:creator>
  <cp:lastModifiedBy>m29326</cp:lastModifiedBy>
  <cp:revision>16</cp:revision>
  <dcterms:modified xsi:type="dcterms:W3CDTF">2021-10-19T02:11:42Z</dcterms:modified>
</cp:coreProperties>
</file>